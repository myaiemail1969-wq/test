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8A84B"/>
                </a:solidFill>
                <a:latin typeface="Calibri"/>
              </a:rPr>
              <a:t>PROJECT AERIA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8E6E1"/>
                </a:solidFill>
                <a:latin typeface="Calibri"/>
              </a:rPr>
              <a:t>A Sovereign Offline Knowledge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A9B1BA"/>
                </a:solidFill>
                <a:latin typeface="Calibri"/>
              </a:rPr>
              <a:t>A self-contained "Civilization Restart Kit": a local AI advisor, an encrypted personal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A9B1BA"/>
                </a:solidFill>
                <a:latin typeface="Calibri"/>
              </a:rPr>
              <a:t>vault, and a curated reference library — all running from a single drive, with zero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A9B1BA"/>
                </a:solidFill>
                <a:latin typeface="Calibri"/>
              </a:rPr>
              <a:t>internet connection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49240"/>
            <a:ext cx="2743200" cy="36576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9B1BA"/>
                </a:solidFill>
                <a:latin typeface="Calibri"/>
              </a:rPr>
              <a:t>No cloud. No accounts. No signal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6E1"/>
                </a:solidFill>
                <a:latin typeface="Calibri"/>
              </a:rPr>
              <a:t>What Is Project Aeria?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463040" cy="36576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8A84B"/>
                </a:solidFill>
                <a:latin typeface="Calibri"/>
              </a:rPr>
              <a:t>›  </a:t>
            </a:r>
            <a:r>
              <a:rPr sz="1600">
                <a:solidFill>
                  <a:srgbClr val="E8E6E1"/>
                </a:solidFill>
                <a:latin typeface="Calibri"/>
              </a:rPr>
              <a:t>A USB drive that boots a complete offline AI system — no internet, no external services, no dependency on infrastructure that may not survive a crisis.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8A84B"/>
                </a:solidFill>
                <a:latin typeface="Calibri"/>
              </a:rPr>
              <a:t>›  </a:t>
            </a:r>
            <a:r>
              <a:rPr sz="1600">
                <a:solidFill>
                  <a:srgbClr val="E8E6E1"/>
                </a:solidFill>
                <a:latin typeface="Calibri"/>
              </a:rPr>
              <a:t>Runs a local large language model (via llama.cpp) that answers questions using a private reference library stored on the same drive.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8A84B"/>
                </a:solidFill>
                <a:latin typeface="Calibri"/>
              </a:rPr>
              <a:t>›  </a:t>
            </a:r>
            <a:r>
              <a:rPr sz="1600">
                <a:solidFill>
                  <a:srgbClr val="E8E6E1"/>
                </a:solidFill>
                <a:latin typeface="Calibri"/>
              </a:rPr>
              <a:t>Organized as a "Council" of domain-expert advisors — medicine, fabrication, and structural engineering — plus an encrypted personal vault for critical documents.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8A84B"/>
                </a:solidFill>
                <a:latin typeface="Calibri"/>
              </a:rPr>
              <a:t>›  </a:t>
            </a:r>
            <a:r>
              <a:rPr sz="1600">
                <a:solidFill>
                  <a:srgbClr val="E8E6E1"/>
                </a:solidFill>
                <a:latin typeface="Calibri"/>
              </a:rPr>
              <a:t>Built to work cross-platform: Windows, macOS, and Linux launchers all boot the same system from the same drive.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2011680"/>
            <a:ext cx="4937760" cy="4389120"/>
          </a:xfrm>
          <a:prstGeom prst="rect">
            <a:avLst/>
          </a:prstGeom>
          <a:solidFill>
            <a:srgbClr val="1C222B"/>
          </a:solidFill>
          <a:ln w="9525">
            <a:solidFill>
              <a:srgbClr val="2E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3317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DESIGN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788920"/>
            <a:ext cx="43891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A9B1BA"/>
                </a:solidFill>
                <a:latin typeface="Calibri"/>
              </a:rPr>
              <a:t>“If the grid goes down, the knowledge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A9B1BA"/>
                </a:solidFill>
                <a:latin typeface="Calibri"/>
              </a:rPr>
              <a:t>shouldn’t.”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A9B1B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A9B1BA"/>
                </a:solidFill>
                <a:latin typeface="Calibri"/>
              </a:rPr>
              <a:t>Every component — model, library, and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A9B1BA"/>
                </a:solidFill>
                <a:latin typeface="Calibri"/>
              </a:rPr>
              <a:t>vault — lives on the drive itself. Plug it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A9B1BA"/>
                </a:solidFill>
                <a:latin typeface="Calibri"/>
              </a:rPr>
              <a:t>into any compatible computer and the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A9B1BA"/>
                </a:solidFill>
                <a:latin typeface="Calibri"/>
              </a:rPr>
              <a:t>full system is available immediately,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A9B1BA"/>
                </a:solidFill>
                <a:latin typeface="Calibri"/>
              </a:rPr>
              <a:t>with nothing to install and nothing to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A9B1BA"/>
                </a:solidFill>
                <a:latin typeface="Calibri"/>
              </a:rPr>
              <a:t>phone home 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6E1"/>
                </a:solidFill>
                <a:latin typeface="Calibri"/>
              </a:rPr>
              <a:t>How the Drive Is Organized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463040" cy="36576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66928" cy="512064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161C"/>
                </a:solidFill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93391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6E1"/>
                </a:solidFill>
                <a:latin typeface="Calibri"/>
              </a:rPr>
              <a:t>BOOT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993391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A9B1BA"/>
                </a:solidFill>
                <a:latin typeface="Calibri"/>
              </a:rPr>
              <a:t>Cross-platform launchers (Windows / macOS / Linux), health checks, startup &amp; shutdown scripts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24328"/>
            <a:ext cx="566928" cy="512064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161C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517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6E1"/>
                </a:solidFill>
                <a:latin typeface="Calibri"/>
              </a:rPr>
              <a:t>THE BRAINS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65176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A9B1BA"/>
                </a:solidFill>
                <a:latin typeface="Calibri"/>
              </a:rPr>
              <a:t>Local LLM model files (GGUF format) that power every advisor — runs entirely on-device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82696"/>
            <a:ext cx="566928" cy="512064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161C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310127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6E1"/>
                </a:solidFill>
                <a:latin typeface="Calibri"/>
              </a:rPr>
              <a:t>THE COUNCIL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310127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A9B1BA"/>
                </a:solidFill>
                <a:latin typeface="Calibri"/>
              </a:rPr>
              <a:t>The advisor agents — Surgeon, Blacksmith, and Engineer — plus the chat interface that routes questions to them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41064"/>
            <a:ext cx="566928" cy="512064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161C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68496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6E1"/>
                </a:solidFill>
                <a:latin typeface="Calibri"/>
              </a:rPr>
              <a:t>THE ARCHIVES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968496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A9B1BA"/>
                </a:solidFill>
                <a:latin typeface="Calibri"/>
              </a:rPr>
              <a:t>The reference library: field manuals, medical guides, engineering texts — indexed and searchable for instant retrieval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99431"/>
            <a:ext cx="566928" cy="512064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161C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26864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6E1"/>
                </a:solidFill>
                <a:latin typeface="Calibri"/>
              </a:rPr>
              <a:t>THE SCOUT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4626864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A9B1BA"/>
                </a:solidFill>
                <a:latin typeface="Calibri"/>
              </a:rPr>
              <a:t>Local vision tool — describes and analyzes images/photos entirely offline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57800"/>
            <a:ext cx="566928" cy="512064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161C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2852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6E1"/>
                </a:solidFill>
                <a:latin typeface="Calibri"/>
              </a:rPr>
              <a:t>USER ADDITIONS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5285232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A9B1BA"/>
                </a:solidFill>
                <a:latin typeface="Calibri"/>
              </a:rPr>
              <a:t>Space for the owner's own notes, documents, and custom material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16168"/>
            <a:ext cx="566928" cy="512064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161C"/>
                </a:solidFill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94360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6E1"/>
                </a:solidFill>
                <a:latin typeface="Calibri"/>
              </a:rPr>
              <a:t>PERSONAL VAULT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59436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A9B1BA"/>
                </a:solidFill>
                <a:latin typeface="Calibri"/>
              </a:rPr>
              <a:t>AES-256 encrypted storage for family, medical, legal, and credential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THE ADVISORS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6E1"/>
                </a:solidFill>
                <a:latin typeface="Calibri"/>
              </a:rPr>
              <a:t>Meet the Council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9B1BA"/>
                </a:solidFill>
                <a:latin typeface="Calibri"/>
              </a:rPr>
              <a:t>Three domain specialists, one local model — each with its own expert system prompt and knowledge focus.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29000" cy="4114800"/>
          </a:xfrm>
          <a:prstGeom prst="rect">
            <a:avLst/>
          </a:prstGeom>
          <a:solidFill>
            <a:srgbClr val="1C222B"/>
          </a:solidFill>
          <a:ln w="9525">
            <a:solidFill>
              <a:srgbClr val="2E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514600"/>
            <a:ext cx="914400" cy="54864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A84B"/>
                </a:solidFill>
                <a:latin typeface="Calibri"/>
              </a:rPr>
              <a:t>THE SURGEON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A9B1BA"/>
                </a:solidFill>
                <a:latin typeface="Calibri"/>
              </a:rPr>
              <a:t>MEDICINE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28803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8E6E1"/>
                </a:solidFill>
                <a:latin typeface="Calibri"/>
              </a:rPr>
              <a:t>Trauma triage (MARCH protocol), wound management, fracture stabilization, improvised surgical care, pharmaceutical dosing, infection control, childbirth and long-term patient management.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94560"/>
            <a:ext cx="3429000" cy="4114800"/>
          </a:xfrm>
          <a:prstGeom prst="rect">
            <a:avLst/>
          </a:prstGeom>
          <a:solidFill>
            <a:srgbClr val="1C222B"/>
          </a:solidFill>
          <a:ln w="9525">
            <a:solidFill>
              <a:srgbClr val="2E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2514600"/>
            <a:ext cx="914400" cy="54864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A84B"/>
                </a:solidFill>
                <a:latin typeface="Calibri"/>
              </a:rPr>
              <a:t>THE BLACKSMITH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5468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A9B1BA"/>
                </a:solidFill>
                <a:latin typeface="Calibri"/>
              </a:rPr>
              <a:t>METALLURGY &amp; FABRICATION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57600"/>
            <a:ext cx="28803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8E6E1"/>
                </a:solidFill>
                <a:latin typeface="Calibri"/>
              </a:rPr>
              <a:t>Forge setup and heat treatment, metal identification (spark/file/magnet tests), fabrication from scrap, casting, forge and arc welding, and recognizing hazardous metals.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9" y="2194560"/>
            <a:ext cx="3429000" cy="4114800"/>
          </a:xfrm>
          <a:prstGeom prst="rect">
            <a:avLst/>
          </a:prstGeom>
          <a:solidFill>
            <a:srgbClr val="1C222B"/>
          </a:solidFill>
          <a:ln w="9525">
            <a:solidFill>
              <a:srgbClr val="2E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2514600"/>
            <a:ext cx="914400" cy="54864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69748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A84B"/>
                </a:solidFill>
                <a:latin typeface="Calibri"/>
              </a:rPr>
              <a:t>THE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5468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A9B1BA"/>
                </a:solidFill>
                <a:latin typeface="Calibri"/>
              </a:rPr>
              <a:t>STRUCTURAL &amp; CIVIL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57600"/>
            <a:ext cx="28803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8E6E1"/>
                </a:solidFill>
                <a:latin typeface="Calibri"/>
              </a:rPr>
              <a:t>Structural design and load calculations, water systems and filtration, off-grid power (solar, micro-hydro, generators), fortification and physical security, sanitation, and mechanical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6E1"/>
                </a:solidFill>
                <a:latin typeface="Calibri"/>
              </a:rPr>
              <a:t>What It Can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463040" cy="36576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A84B"/>
                </a:solidFill>
                <a:latin typeface="Calibri"/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9834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E6E1"/>
                </a:solidFill>
                <a:latin typeface="Calibri"/>
              </a:rPr>
              <a:t>100% Offline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41448"/>
            <a:ext cx="49834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1BA"/>
                </a:solidFill>
                <a:latin typeface="Calibri"/>
              </a:rPr>
              <a:t>No internet connection, cloud account, or external API calls — the model, the library, and the interface all run from the drive.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57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A84B"/>
                </a:solidFill>
                <a:latin typeface="Calibri"/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011680"/>
            <a:ext cx="49834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E6E1"/>
                </a:solidFill>
                <a:latin typeface="Calibri"/>
              </a:rPr>
              <a:t>Grounded Answers from a Real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41448"/>
            <a:ext cx="49834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1BA"/>
                </a:solidFill>
                <a:latin typeface="Calibri"/>
              </a:rPr>
              <a:t>Retrieval-augmented responses pull directly from an indexed archive of field manuals, medical references, and technical texts — not guesses.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A84B"/>
                </a:solidFill>
                <a:latin typeface="Calibri"/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29000"/>
            <a:ext cx="49834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E6E1"/>
                </a:solidFill>
                <a:latin typeface="Calibri"/>
              </a:rPr>
              <a:t>Encrypted Personal Vault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58768"/>
            <a:ext cx="49834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1BA"/>
                </a:solidFill>
                <a:latin typeface="Calibri"/>
              </a:rPr>
              <a:t>AES-256 encrypted storage for family, medical, legal, and credential documents, with no plaintext sensitive data ever stored on disk.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747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A84B"/>
                </a:solidFill>
                <a:latin typeface="Calibri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429000"/>
            <a:ext cx="49834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E6E1"/>
                </a:solidFill>
                <a:latin typeface="Calibri"/>
              </a:rPr>
              <a:t>Scout — Offline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858768"/>
            <a:ext cx="49834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1BA"/>
                </a:solidFill>
                <a:latin typeface="Calibri"/>
              </a:rPr>
              <a:t>Send a photo to a local vision model for analysis (e.g. identifying a part, a plant, or an injury) without any image ever leaving the machine.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A84B"/>
                </a:solidFill>
                <a:latin typeface="Calibri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49834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E6E1"/>
                </a:solidFill>
                <a:latin typeface="Calibri"/>
              </a:rPr>
              <a:t>Cross-Platform Boot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76088"/>
            <a:ext cx="49834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1BA"/>
                </a:solidFill>
                <a:latin typeface="Calibri"/>
              </a:rPr>
              <a:t>Identical experience on Windows, macOS, and Linux — plug in the drive and the matching launcher brings the whole system 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8920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A84B"/>
                </a:solidFill>
                <a:latin typeface="Calibri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846320"/>
            <a:ext cx="49834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E6E1"/>
                </a:solidFill>
                <a:latin typeface="Calibri"/>
              </a:rPr>
              <a:t>Plug-and-Go Launch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5276088"/>
            <a:ext cx="49834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B1BA"/>
                </a:solidFill>
                <a:latin typeface="Calibri"/>
              </a:rPr>
              <a:t>Root-level launcher scripts and drive autorun registration mean the system can start the moment the drive is connected.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6E1"/>
                </a:solidFill>
                <a:latin typeface="Calibri"/>
              </a:rPr>
              <a:t>The Archive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9B1BA"/>
                </a:solidFill>
                <a:latin typeface="Calibri"/>
              </a:rPr>
              <a:t>Every answer the Council gives is grounded in real reference material stored and indexed on the drive.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MEDICAL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822960" cy="32004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E8A84B"/>
                </a:solidFill>
                <a:latin typeface="Calibri"/>
              </a:rPr>
              <a:t>–  </a:t>
            </a:r>
            <a:r>
              <a:rPr sz="1350">
                <a:solidFill>
                  <a:srgbClr val="E8E6E1"/>
                </a:solidFill>
                <a:latin typeface="Calibri"/>
              </a:rPr>
              <a:t>Where There Is No Doctor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E8A84B"/>
                </a:solidFill>
                <a:latin typeface="Calibri"/>
              </a:rPr>
              <a:t>–  </a:t>
            </a:r>
            <a:r>
              <a:rPr sz="1350">
                <a:solidFill>
                  <a:srgbClr val="E8E6E1"/>
                </a:solidFill>
                <a:latin typeface="Calibri"/>
              </a:rPr>
              <a:t>Where There Is No Dentist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E8A84B"/>
                </a:solidFill>
                <a:latin typeface="Calibri"/>
              </a:rPr>
              <a:t>–  </a:t>
            </a:r>
            <a:r>
              <a:rPr sz="1350">
                <a:solidFill>
                  <a:srgbClr val="E8E6E1"/>
                </a:solidFill>
                <a:latin typeface="Calibri"/>
              </a:rPr>
              <a:t>A Book for Midwives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E8A84B"/>
                </a:solidFill>
                <a:latin typeface="Calibri"/>
              </a:rPr>
              <a:t>–  </a:t>
            </a:r>
            <a:r>
              <a:rPr sz="1350">
                <a:solidFill>
                  <a:srgbClr val="E8E6E1"/>
                </a:solidFill>
                <a:latin typeface="Calibri"/>
              </a:rPr>
              <a:t>Army First Aid (FM 4-25.11)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E8A84B"/>
                </a:solidFill>
                <a:latin typeface="Calibri"/>
              </a:rPr>
              <a:t>–  </a:t>
            </a:r>
            <a:r>
              <a:rPr sz="1350">
                <a:solidFill>
                  <a:srgbClr val="E8E6E1"/>
                </a:solidFill>
                <a:latin typeface="Calibri"/>
              </a:rPr>
              <a:t>Anatomy &amp; Physiology (OpenStax)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1488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SURVIVAL &amp;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560320"/>
            <a:ext cx="822960" cy="32004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8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E8A84B"/>
                </a:solidFill>
                <a:latin typeface="Calibri"/>
              </a:rPr>
              <a:t>–  </a:t>
            </a:r>
            <a:r>
              <a:rPr sz="1350">
                <a:solidFill>
                  <a:srgbClr val="E8E6E1"/>
                </a:solidFill>
                <a:latin typeface="Calibri"/>
              </a:rPr>
              <a:t>Army Survival Manual (FM 21-76)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E8A84B"/>
                </a:solidFill>
                <a:latin typeface="Calibri"/>
              </a:rPr>
              <a:t>–  </a:t>
            </a:r>
            <a:r>
              <a:rPr sz="1350">
                <a:solidFill>
                  <a:srgbClr val="E8E6E1"/>
                </a:solidFill>
                <a:latin typeface="Calibri"/>
              </a:rPr>
              <a:t>Engineer Field Data (FM 5-34)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E8A84B"/>
                </a:solidFill>
                <a:latin typeface="Calibri"/>
              </a:rPr>
              <a:t>–  </a:t>
            </a:r>
            <a:r>
              <a:rPr sz="1350">
                <a:solidFill>
                  <a:srgbClr val="E8E6E1"/>
                </a:solidFill>
                <a:latin typeface="Calibri"/>
              </a:rPr>
              <a:t>Water Supply (FM 10-52)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E8A84B"/>
                </a:solidFill>
                <a:latin typeface="Calibri"/>
              </a:rPr>
              <a:t>–  </a:t>
            </a:r>
            <a:r>
              <a:rPr sz="1350">
                <a:solidFill>
                  <a:srgbClr val="E8E6E1"/>
                </a:solidFill>
                <a:latin typeface="Calibri"/>
              </a:rPr>
              <a:t>University &amp; College Physics (OpenStax)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E8A84B"/>
                </a:solidFill>
                <a:latin typeface="Calibri"/>
              </a:rPr>
              <a:t>–  </a:t>
            </a:r>
            <a:r>
              <a:rPr sz="1350">
                <a:solidFill>
                  <a:srgbClr val="E8E6E1"/>
                </a:solidFill>
                <a:latin typeface="Calibri"/>
              </a:rPr>
              <a:t>Chemistry: Atoms First (OpenStax)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21488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HOW IT'S USED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2560320"/>
            <a:ext cx="822960" cy="32004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2788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E8A84B"/>
                </a:solidFill>
                <a:latin typeface="Calibri"/>
              </a:rPr>
              <a:t>–  </a:t>
            </a:r>
            <a:r>
              <a:rPr sz="1350">
                <a:solidFill>
                  <a:srgbClr val="E8E6E1"/>
                </a:solidFill>
                <a:latin typeface="Calibri"/>
              </a:rPr>
              <a:t>PDFs and ZIM archives converted to indexed text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E8A84B"/>
                </a:solidFill>
                <a:latin typeface="Calibri"/>
              </a:rPr>
              <a:t>–  </a:t>
            </a:r>
            <a:r>
              <a:rPr sz="1350">
                <a:solidFill>
                  <a:srgbClr val="E8E6E1"/>
                </a:solidFill>
                <a:latin typeface="Calibri"/>
              </a:rPr>
              <a:t>Full-text search across the whole library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E8A84B"/>
                </a:solidFill>
                <a:latin typeface="Calibri"/>
              </a:rPr>
              <a:t>–  </a:t>
            </a:r>
            <a:r>
              <a:rPr sz="1350">
                <a:solidFill>
                  <a:srgbClr val="E8E6E1"/>
                </a:solidFill>
                <a:latin typeface="Calibri"/>
              </a:rPr>
              <a:t>Council agents cite and quote source material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E8A84B"/>
                </a:solidFill>
                <a:latin typeface="Calibri"/>
              </a:rPr>
              <a:t>–  </a:t>
            </a:r>
            <a:r>
              <a:rPr sz="1350">
                <a:solidFill>
                  <a:srgbClr val="E8E6E1"/>
                </a:solidFill>
                <a:latin typeface="Calibri"/>
              </a:rPr>
              <a:t>Expandable — drop in any new reference and re-index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6E1"/>
                </a:solidFill>
                <a:latin typeface="Calibri"/>
              </a:rPr>
              <a:t>What It Runs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463040" cy="36576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A84B"/>
                </a:solidFill>
                <a:latin typeface="Calibri"/>
              </a:rPr>
              <a:t>THE 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A84B"/>
                </a:solidFill>
                <a:latin typeface="Calibri"/>
              </a:rPr>
              <a:t>›  </a:t>
            </a:r>
            <a:r>
              <a:rPr sz="1500">
                <a:solidFill>
                  <a:srgbClr val="E8E6E1"/>
                </a:solidFill>
                <a:latin typeface="Calibri"/>
              </a:rPr>
              <a:t>USB flash drive, 32 GB minimum (64 GB+ recommended)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A84B"/>
                </a:solidFill>
                <a:latin typeface="Calibri"/>
              </a:rPr>
              <a:t>›  </a:t>
            </a:r>
            <a:r>
              <a:rPr sz="1500">
                <a:solidFill>
                  <a:srgbClr val="E8E6E1"/>
                </a:solidFill>
                <a:latin typeface="Calibri"/>
              </a:rPr>
              <a:t>Formatted exFAT — readable on Windows, macOS, and Linux without drivers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A84B"/>
                </a:solidFill>
                <a:latin typeface="Calibri"/>
              </a:rPr>
              <a:t>›  </a:t>
            </a:r>
            <a:r>
              <a:rPr sz="1500">
                <a:solidFill>
                  <a:srgbClr val="E8E6E1"/>
                </a:solidFill>
                <a:latin typeface="Calibri"/>
              </a:rPr>
              <a:t>Holds the launcher, the model files, the archive library, and the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A84B"/>
                </a:solidFill>
                <a:latin typeface="Calibri"/>
              </a:rPr>
              <a:t>DRIVE SPACE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1460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6E1"/>
                </a:solidFill>
                <a:latin typeface="Calibri"/>
              </a:rPr>
              <a:t>Runtime binaries (llama.cpp)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25146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~500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97180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6E1"/>
                </a:solidFill>
                <a:latin typeface="Calibri"/>
              </a:rPr>
              <a:t>Fallback small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971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~1.5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6E1"/>
                </a:solidFill>
                <a:latin typeface="Calibri"/>
              </a:rPr>
              <a:t>Main model (7–8B, recommended)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34290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~4.7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88620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6E1"/>
                </a:solidFill>
                <a:latin typeface="Calibri"/>
              </a:rPr>
              <a:t>Vision model + projector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38862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~1.8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34340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6E1"/>
                </a:solidFill>
                <a:latin typeface="Calibri"/>
              </a:rPr>
              <a:t>Reference 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343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remaining space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846320"/>
            <a:ext cx="5212080" cy="22860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9834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E6E1"/>
                </a:solidFill>
                <a:latin typeface="Calibri"/>
              </a:rPr>
              <a:t>Comfortable full kit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49834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64 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A84B"/>
                </a:solidFill>
                <a:latin typeface="Calibri"/>
              </a:rPr>
              <a:t>TARGET MACHINE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9B1BA"/>
                </a:solidFill>
                <a:latin typeface="Calibri"/>
              </a:rPr>
              <a:t>Any reasonably modern Windows, macOS, or Linux computer with a USB port. The target ("survival") machine never needs an internet connection — only the original setup machine does, to perform the one-time download.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6E1"/>
                </a:solidFill>
                <a:latin typeface="Calibri"/>
              </a:rPr>
              <a:t>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463040" cy="36576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2161C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7568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6E1"/>
                </a:solidFill>
                <a:latin typeface="Calibri"/>
              </a:rPr>
              <a:t>Format the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075688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A9B1BA"/>
                </a:solidFill>
                <a:latin typeface="Calibri"/>
              </a:rPr>
              <a:t>Format a USB drive as exFAT so it works across Windows, macOS, and Linux.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944368"/>
            <a:ext cx="457200" cy="457200"/>
          </a:xfrm>
          <a:prstGeom prst="ellipse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2161C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91693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6E1"/>
                </a:solidFill>
                <a:latin typeface="Calibri"/>
              </a:rPr>
              <a:t>Download the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916936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A9B1BA"/>
                </a:solidFill>
                <a:latin typeface="Calibri"/>
              </a:rPr>
              <a:t>On a machine with internet: clone the project, download the model (Dolphin 2.9.1, an uncensored 8B model), and pull reference texts.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785615"/>
            <a:ext cx="457200" cy="457200"/>
          </a:xfrm>
          <a:prstGeom prst="ellipse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2161C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58183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6E1"/>
                </a:solidFill>
                <a:latin typeface="Calibri"/>
              </a:rPr>
              <a:t>Build the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758183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A9B1BA"/>
                </a:solidFill>
                <a:latin typeface="Calibri"/>
              </a:rPr>
              <a:t>Convert downloaded PDFs/ZIM archives to indexed text so the Council can search and cite them.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626864"/>
            <a:ext cx="457200" cy="457200"/>
          </a:xfrm>
          <a:prstGeom prst="ellipse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2161C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99431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6E1"/>
                </a:solidFill>
                <a:latin typeface="Calibri"/>
              </a:rPr>
              <a:t>Copy to the drive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599431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A9B1BA"/>
                </a:solidFill>
                <a:latin typeface="Calibri"/>
              </a:rPr>
              <a:t>Place the boot system, model, library, and launcher scripts onto the drive.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468112"/>
            <a:ext cx="457200" cy="457200"/>
          </a:xfrm>
          <a:prstGeom prst="ellipse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2161C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44067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6E1"/>
                </a:solidFill>
                <a:latin typeface="Calibri"/>
              </a:rPr>
              <a:t>Plug in and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440679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A9B1BA"/>
                </a:solidFill>
                <a:latin typeface="Calibri"/>
              </a:rPr>
              <a:t>Insert the drive into any target machine and run the launcher for that platform — Windows, macOS, or Linux — and the Council comes online.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84B"/>
                </a:solidFill>
                <a:latin typeface="Calibri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6E1"/>
                </a:solidFill>
                <a:latin typeface="Calibri"/>
              </a:rPr>
              <a:t>Security &amp; Privacy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463040" cy="36576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E8A84B"/>
                </a:solidFill>
                <a:latin typeface="Calibri"/>
              </a:rPr>
              <a:t>›  </a:t>
            </a:r>
            <a:r>
              <a:rPr sz="1700">
                <a:solidFill>
                  <a:srgbClr val="E8E6E1"/>
                </a:solidFill>
                <a:latin typeface="Calibri"/>
              </a:rPr>
              <a:t>No network calls anywhere in the runtime — the model, the search, and the vault all operate without ever reaching out to the internet.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E8A84B"/>
                </a:solidFill>
                <a:latin typeface="Calibri"/>
              </a:rPr>
              <a:t>›  </a:t>
            </a:r>
            <a:r>
              <a:rPr sz="1700">
                <a:solidFill>
                  <a:srgbClr val="E8E6E1"/>
                </a:solidFill>
                <a:latin typeface="Calibri"/>
              </a:rPr>
              <a:t>Personal documents are encrypted at rest with AES-256; nothing sensitive is ever written to disk in plaintext.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E8A84B"/>
                </a:solidFill>
                <a:latin typeface="Calibri"/>
              </a:rPr>
              <a:t>›  </a:t>
            </a:r>
            <a:r>
              <a:rPr sz="1700">
                <a:solidFill>
                  <a:srgbClr val="E8E6E1"/>
                </a:solidFill>
                <a:latin typeface="Calibri"/>
              </a:rPr>
              <a:t>No accounts, telemetry, or third-party services of any kind — the only copy of your data is the copy on your drive.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E8A84B"/>
                </a:solidFill>
                <a:latin typeface="Calibri"/>
              </a:rPr>
              <a:t>›  </a:t>
            </a:r>
            <a:r>
              <a:rPr sz="1700">
                <a:solidFill>
                  <a:srgbClr val="E8E6E1"/>
                </a:solidFill>
                <a:latin typeface="Calibri"/>
              </a:rPr>
              <a:t>Because everything is local and inspectable, you control exactly what the system knows and what it can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E6E1"/>
                </a:solidFill>
                <a:latin typeface="Calibri"/>
              </a:rPr>
              <a:t>Plug it in. It's 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418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A9B1BA"/>
                </a:solidFill>
                <a:latin typeface="Calibri"/>
              </a:rPr>
              <a:t>Project Aeria packages an AI advisor, a reference library, and an encrypted vault onto a single drive — built to keep working when nothing else does.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120640"/>
            <a:ext cx="2743200" cy="36576"/>
          </a:xfrm>
          <a:prstGeom prst="rect">
            <a:avLst/>
          </a:prstGeom>
          <a:solidFill>
            <a:srgbClr val="E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A84B"/>
                </a:solidFill>
                <a:latin typeface="Calibri"/>
              </a:rPr>
              <a:t>PROJECT AERIA  —  Civilization Restart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